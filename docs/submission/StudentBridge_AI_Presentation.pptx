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34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498079" y="0"/>
            <a:ext cx="4690872" cy="6858000"/>
          </a:xfrm>
          <a:prstGeom prst="roundRect">
            <a:avLst/>
          </a:prstGeom>
          <a:solidFill>
            <a:srgbClr val="0B2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995160" y="822960"/>
            <a:ext cx="4023360" cy="4023360"/>
          </a:xfrm>
          <a:prstGeom prst="ellipse">
            <a:avLst/>
          </a:prstGeom>
          <a:noFill/>
          <a:ln w="11430">
            <a:solidFill>
              <a:srgbClr val="327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516368" y="1252728"/>
            <a:ext cx="3794760" cy="3794760"/>
          </a:xfrm>
          <a:prstGeom prst="ellipse">
            <a:avLst/>
          </a:prstGeom>
          <a:noFill/>
          <a:ln w="11430">
            <a:solidFill>
              <a:srgbClr val="327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37576" y="1682495"/>
            <a:ext cx="3566160" cy="3566160"/>
          </a:xfrm>
          <a:prstGeom prst="ellipse">
            <a:avLst/>
          </a:prstGeom>
          <a:noFill/>
          <a:ln w="11430">
            <a:solidFill>
              <a:srgbClr val="327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640080"/>
            <a:ext cx="1645920" cy="365760"/>
          </a:xfrm>
          <a:prstGeom prst="roundRect">
            <a:avLst/>
          </a:prstGeom>
          <a:solidFill>
            <a:srgbClr val="DFF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22376"/>
            <a:ext cx="1280160" cy="18288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113438"/>
                </a:solidFill>
                <a:latin typeface="Aptos"/>
              </a:defRPr>
            </a:pPr>
            <a:r>
              <a:t>TOPIC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883664"/>
            <a:ext cx="6858000" cy="1536192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4600" b="1">
                <a:solidFill>
                  <a:srgbClr val="FFFFFF"/>
                </a:solidFill>
                <a:latin typeface="Aptos"/>
              </a:defRPr>
            </a:pPr>
            <a:r>
              <a:t>Finance without</a:t>
            </a:r>
          </a:p>
          <a:p>
            <a:pPr>
              <a:spcAft>
                <a:spcPts val="300"/>
              </a:spcAft>
              <a:defRPr sz="4600" b="1">
                <a:solidFill>
                  <a:srgbClr val="FFFFFF"/>
                </a:solidFill>
                <a:latin typeface="Aptos"/>
              </a:defRPr>
            </a:pPr>
            <a:r>
              <a:t>frontiers.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3813048"/>
            <a:ext cx="6309360" cy="77724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DFFF9A"/>
                </a:solidFill>
                <a:latin typeface="Aptos"/>
              </a:defRPr>
            </a:pPr>
            <a:r>
              <a:t>An explainable student finance agent for 6 countries and 30 cross-border directions.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53328"/>
            <a:ext cx="9144000" cy="27432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STUDENTBRIDGE AI  ·  DEMONSTRATION SANDBOX  ·  OCTOBER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30768" y="2743200"/>
            <a:ext cx="2011680" cy="91440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 algn="ctr">
              <a:spcAft>
                <a:spcPts val="300"/>
              </a:spcAft>
              <a:defRPr sz="7400" b="1">
                <a:solidFill>
                  <a:srgbClr val="DFFF9A"/>
                </a:solidFill>
                <a:latin typeface="Aptos"/>
              </a:defRPr>
            </a:pPr>
            <a:r>
              <a:t>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"/>
          </a:xfrm>
          <a:prstGeom prst="rect">
            <a:avLst/>
          </a:prstGeom>
          <a:solidFill>
            <a:srgbClr val="1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37744"/>
            <a:ext cx="5486400" cy="246888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327B65"/>
                </a:solidFill>
                <a:latin typeface="Aptos"/>
              </a:defRPr>
            </a:pPr>
            <a:r>
              <a:t>STUDENTBRIDGE AI  /  TOPIC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85800"/>
            <a:ext cx="10972800" cy="91440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3000" b="1">
                <a:solidFill>
                  <a:srgbClr val="113438"/>
                </a:solidFill>
                <a:latin typeface="Aptos"/>
              </a:defRPr>
            </a:pPr>
            <a:r>
              <a:t>The problem is not currency. It is complexity.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" y="1508760"/>
            <a:ext cx="10698480" cy="50292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80938B"/>
                </a:solidFill>
                <a:latin typeface="Aptos"/>
              </a:defRPr>
            </a:pPr>
            <a:r>
              <a:t>Students face five connected decisions without a single safe workflow.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6565392"/>
            <a:ext cx="10945368" cy="13716"/>
          </a:xfrm>
          <a:prstGeom prst="rect">
            <a:avLst/>
          </a:prstGeom>
          <a:solidFill>
            <a:srgbClr val="DDE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83680"/>
            <a:ext cx="7315200" cy="173736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80938B"/>
                </a:solidFill>
                <a:latin typeface="Aptos"/>
              </a:defRPr>
            </a:pPr>
            <a:r>
              <a:t>2026 SHENZHEN INTERNATIONAL FINTECH COMPETITION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56248"/>
            <a:ext cx="457200" cy="18288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327B6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" y="2029968"/>
            <a:ext cx="356616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94560"/>
            <a:ext cx="548640" cy="27432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327B65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642616"/>
            <a:ext cx="3200400" cy="667512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113438"/>
                </a:solidFill>
                <a:latin typeface="Aptos"/>
              </a:defRPr>
            </a:pPr>
            <a:r>
              <a:t>Tuition deadlines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9704" y="2029968"/>
            <a:ext cx="356616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8" y="2194560"/>
            <a:ext cx="548640" cy="27432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327B6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2584" y="2642616"/>
            <a:ext cx="3200400" cy="667512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113438"/>
                </a:solidFill>
                <a:latin typeface="Aptos"/>
              </a:defRPr>
            </a:pPr>
            <a:r>
              <a:t>Currency spreads and fees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84464" y="2029968"/>
            <a:ext cx="356616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76488" y="2194560"/>
            <a:ext cx="548640" cy="27432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327B6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7344" y="2642616"/>
            <a:ext cx="3200400" cy="667512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113438"/>
                </a:solidFill>
                <a:latin typeface="Aptos"/>
              </a:defRPr>
            </a:pPr>
            <a:r>
              <a:t>Route eligibility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3767328"/>
            <a:ext cx="356616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3931920"/>
            <a:ext cx="548640" cy="27432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327B65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4379976"/>
            <a:ext cx="3200400" cy="667512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113438"/>
                </a:solidFill>
                <a:latin typeface="Aptos"/>
              </a:defRPr>
            </a:pPr>
            <a:r>
              <a:t>Living-cost uncertainty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9704" y="3767328"/>
            <a:ext cx="356616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81728" y="3931920"/>
            <a:ext cx="548640" cy="27432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327B65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2584" y="4379976"/>
            <a:ext cx="3200400" cy="667512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113438"/>
                </a:solidFill>
                <a:latin typeface="Aptos"/>
              </a:defRPr>
            </a:pPr>
            <a:r>
              <a:t>Building local credit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2" y="5413248"/>
            <a:ext cx="2743200" cy="73152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327B65"/>
                </a:solidFill>
                <a:latin typeface="Aptos"/>
              </a:defRPr>
            </a:pPr>
            <a:r>
              <a:t>One financial journey.</a:t>
            </a:r>
          </a:p>
          <a:p>
            <a:pPr>
              <a:spcAft>
                <a:spcPts val="300"/>
              </a:spcAft>
              <a:defRPr sz="1300" b="1">
                <a:solidFill>
                  <a:srgbClr val="327B65"/>
                </a:solidFill>
                <a:latin typeface="Aptos"/>
              </a:defRPr>
            </a:pPr>
            <a:r>
              <a:t>Many hidden constraints.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"/>
          </a:xfrm>
          <a:prstGeom prst="rect">
            <a:avLst/>
          </a:prstGeom>
          <a:solidFill>
            <a:srgbClr val="1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37744"/>
            <a:ext cx="5486400" cy="246888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327B65"/>
                </a:solidFill>
                <a:latin typeface="Aptos"/>
              </a:defRPr>
            </a:pPr>
            <a:r>
              <a:t>STUDENTBRIDGE AI  /  TOPIC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85800"/>
            <a:ext cx="10972800" cy="91440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3000" b="1">
                <a:solidFill>
                  <a:srgbClr val="113438"/>
                </a:solidFill>
                <a:latin typeface="Aptos"/>
              </a:defRPr>
            </a:pPr>
            <a:r>
              <a:t>The six-country corridor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" y="1508760"/>
            <a:ext cx="10698480" cy="50292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80938B"/>
                </a:solidFill>
                <a:latin typeface="Aptos"/>
              </a:defRPr>
            </a:pPr>
            <a:r>
              <a:t>Any country can be a sending country OR a study destination; we do not assume every bank route exists.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6565392"/>
            <a:ext cx="10945368" cy="13716"/>
          </a:xfrm>
          <a:prstGeom prst="rect">
            <a:avLst/>
          </a:prstGeom>
          <a:solidFill>
            <a:srgbClr val="DDE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83680"/>
            <a:ext cx="7315200" cy="173736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80938B"/>
                </a:solidFill>
                <a:latin typeface="Aptos"/>
              </a:defRPr>
            </a:pPr>
            <a:r>
              <a:t>2026 SHENZHEN INTERNATIONAL FINTECH COMPETITION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56248"/>
            <a:ext cx="457200" cy="18288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327B6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47672"/>
            <a:ext cx="3566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194560"/>
            <a:ext cx="3200400" cy="338328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113438"/>
                </a:solidFill>
                <a:latin typeface="Aptos"/>
              </a:defRPr>
            </a:pPr>
            <a:r>
              <a:t>CHINA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2779776"/>
            <a:ext cx="2926080" cy="27432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327B65"/>
                </a:solidFill>
                <a:latin typeface="Aptos"/>
              </a:defRPr>
            </a:pPr>
            <a:r>
              <a:t>CNY   ·   SEND OR RECEIVE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947672"/>
            <a:ext cx="3566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90872" y="2194560"/>
            <a:ext cx="3200400" cy="338328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113438"/>
                </a:solidFill>
                <a:latin typeface="Aptos"/>
              </a:defRPr>
            </a:pPr>
            <a:r>
              <a:t>UNITED KINGDOM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0016" y="2779776"/>
            <a:ext cx="2926080" cy="27432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327B65"/>
                </a:solidFill>
                <a:latin typeface="Aptos"/>
              </a:defRPr>
            </a:pPr>
            <a:r>
              <a:t>GBP   ·   SEND OR RECEIVE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947672"/>
            <a:ext cx="3566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85632" y="2194560"/>
            <a:ext cx="3200400" cy="338328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113438"/>
                </a:solidFill>
                <a:latin typeface="Aptos"/>
              </a:defRPr>
            </a:pPr>
            <a:r>
              <a:t>JAPAN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94776" y="2779776"/>
            <a:ext cx="2926080" cy="27432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327B65"/>
                </a:solidFill>
                <a:latin typeface="Aptos"/>
              </a:defRPr>
            </a:pPr>
            <a:r>
              <a:t>JPY   ·   SEND OR RECEIVE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666744"/>
            <a:ext cx="3566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913631"/>
            <a:ext cx="3200400" cy="338328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113438"/>
                </a:solidFill>
                <a:latin typeface="Aptos"/>
              </a:defRPr>
            </a:pPr>
            <a:r>
              <a:t>SOUTH KOREA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498848"/>
            <a:ext cx="2926080" cy="27432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327B65"/>
                </a:solidFill>
                <a:latin typeface="Aptos"/>
              </a:defRPr>
            </a:pPr>
            <a:r>
              <a:t>KRW   ·   SEND OR RECEIVE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3666744"/>
            <a:ext cx="3566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90872" y="3913631"/>
            <a:ext cx="3200400" cy="338328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113438"/>
                </a:solidFill>
                <a:latin typeface="Aptos"/>
              </a:defRPr>
            </a:pPr>
            <a:r>
              <a:t>AUSTRALIA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0016" y="4498848"/>
            <a:ext cx="2926080" cy="27432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327B65"/>
                </a:solidFill>
                <a:latin typeface="Aptos"/>
              </a:defRPr>
            </a:pPr>
            <a:r>
              <a:t>AUD   ·   SEND OR RECEIVE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75320" y="3666744"/>
            <a:ext cx="3566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85632" y="3913631"/>
            <a:ext cx="3200400" cy="338328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113438"/>
                </a:solidFill>
                <a:latin typeface="Aptos"/>
              </a:defRPr>
            </a:pPr>
            <a:r>
              <a:t>BANGLADESH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94776" y="4498848"/>
            <a:ext cx="2926080" cy="27432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327B65"/>
                </a:solidFill>
                <a:latin typeface="Aptos"/>
              </a:defRPr>
            </a:pPr>
            <a:r>
              <a:t>BDT   ·   SEND OR RECEIVE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5669280"/>
            <a:ext cx="4206240" cy="393192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 algn="r">
              <a:spcAft>
                <a:spcPts val="300"/>
              </a:spcAft>
              <a:defRPr sz="1700" b="1">
                <a:solidFill>
                  <a:srgbClr val="113438"/>
                </a:solidFill>
                <a:latin typeface="Aptos"/>
              </a:defRPr>
            </a:pPr>
            <a:r>
              <a:t>6 × 5 = 30 ORDERED PAIRS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"/>
          </a:xfrm>
          <a:prstGeom prst="rect">
            <a:avLst/>
          </a:prstGeom>
          <a:solidFill>
            <a:srgbClr val="1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37744"/>
            <a:ext cx="5486400" cy="246888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327B65"/>
                </a:solidFill>
                <a:latin typeface="Aptos"/>
              </a:defRPr>
            </a:pPr>
            <a:r>
              <a:t>STUDENTBRIDGE AI  /  TOPIC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85800"/>
            <a:ext cx="10972800" cy="91440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3000" b="1">
                <a:solidFill>
                  <a:srgbClr val="113438"/>
                </a:solidFill>
                <a:latin typeface="Aptos"/>
              </a:defRPr>
            </a:pPr>
            <a:r>
              <a:t>An end-to-end financial agent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" y="1508760"/>
            <a:ext cx="10698480" cy="50292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80938B"/>
                </a:solidFill>
                <a:latin typeface="Aptos"/>
              </a:defRPr>
            </a:pPr>
            <a:r>
              <a:t>Task completion is a competition priority (40%).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6565392"/>
            <a:ext cx="10945368" cy="13716"/>
          </a:xfrm>
          <a:prstGeom prst="rect">
            <a:avLst/>
          </a:prstGeom>
          <a:solidFill>
            <a:srgbClr val="DDE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83680"/>
            <a:ext cx="7315200" cy="173736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80938B"/>
                </a:solidFill>
                <a:latin typeface="Aptos"/>
              </a:defRPr>
            </a:pPr>
            <a:r>
              <a:t>2026 SHENZHEN INTERNATIONAL FINTECH COMPETITION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56248"/>
            <a:ext cx="457200" cy="18288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327B65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65376"/>
            <a:ext cx="3575304" cy="1819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9536" y="2029968"/>
            <a:ext cx="429768" cy="429768"/>
          </a:xfrm>
          <a:prstGeom prst="roundRect">
            <a:avLst/>
          </a:prstGeom>
          <a:solidFill>
            <a:srgbClr val="E9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93976"/>
            <a:ext cx="365760" cy="27432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327B65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33472"/>
            <a:ext cx="3209544" cy="384048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113438"/>
                </a:solidFill>
                <a:latin typeface="Aptos"/>
              </a:defRPr>
            </a:pPr>
            <a:r>
              <a:t>Set your journey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127248"/>
            <a:ext cx="3209544" cy="402335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80938B"/>
                </a:solidFill>
                <a:latin typeface="Aptos"/>
              </a:defRPr>
            </a:pPr>
            <a:r>
              <a:t>Origin, destination and programme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1865376"/>
            <a:ext cx="3575304" cy="1819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54296" y="2029968"/>
            <a:ext cx="429768" cy="429768"/>
          </a:xfrm>
          <a:prstGeom prst="roundRect">
            <a:avLst/>
          </a:prstGeom>
          <a:solidFill>
            <a:srgbClr val="E9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27448" y="2093976"/>
            <a:ext cx="365760" cy="27432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327B6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633472"/>
            <a:ext cx="3209544" cy="384048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113438"/>
                </a:solidFill>
                <a:latin typeface="Aptos"/>
              </a:defRPr>
            </a:pPr>
            <a:r>
              <a:t>Read the invoice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127248"/>
            <a:ext cx="3209544" cy="402335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80938B"/>
                </a:solidFill>
                <a:latin typeface="Aptos"/>
              </a:defRPr>
            </a:pPr>
            <a:r>
              <a:t>Exact amount, deadline, funding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20" y="1865376"/>
            <a:ext cx="3575304" cy="1819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49056" y="2029968"/>
            <a:ext cx="429768" cy="429768"/>
          </a:xfrm>
          <a:prstGeom prst="roundRect">
            <a:avLst/>
          </a:prstGeom>
          <a:solidFill>
            <a:srgbClr val="E9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22208" y="2093976"/>
            <a:ext cx="365760" cy="27432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327B65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633472"/>
            <a:ext cx="3209544" cy="384048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113438"/>
                </a:solidFill>
                <a:latin typeface="Aptos"/>
              </a:defRPr>
            </a:pPr>
            <a:r>
              <a:t>Check the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3127248"/>
            <a:ext cx="3209544" cy="402335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80938B"/>
                </a:solidFill>
                <a:latin typeface="Aptos"/>
              </a:defRPr>
            </a:pPr>
            <a:r>
              <a:t>Reference FX, user quotes, source links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867912"/>
            <a:ext cx="3575304" cy="1819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59536" y="4032504"/>
            <a:ext cx="429768" cy="429768"/>
          </a:xfrm>
          <a:prstGeom prst="roundRect">
            <a:avLst/>
          </a:prstGeom>
          <a:solidFill>
            <a:srgbClr val="E9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096512"/>
            <a:ext cx="365760" cy="27432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327B6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636008"/>
            <a:ext cx="3209544" cy="384048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113438"/>
                </a:solidFill>
                <a:latin typeface="Aptos"/>
              </a:defRPr>
            </a:pPr>
            <a:r>
              <a:t>Apply the rules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129784"/>
            <a:ext cx="3209544" cy="402335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80938B"/>
                </a:solidFill>
                <a:latin typeface="Aptos"/>
              </a:defRPr>
            </a:pPr>
            <a:r>
              <a:t>Cost, deadline and reserve constraints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80560" y="3867912"/>
            <a:ext cx="3575304" cy="1819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654296" y="4032504"/>
            <a:ext cx="429768" cy="429768"/>
          </a:xfrm>
          <a:prstGeom prst="roundRect">
            <a:avLst/>
          </a:prstGeom>
          <a:solidFill>
            <a:srgbClr val="E9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27448" y="4096512"/>
            <a:ext cx="365760" cy="27432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327B65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4636008"/>
            <a:ext cx="3209544" cy="384048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113438"/>
                </a:solidFill>
                <a:latin typeface="Aptos"/>
              </a:defRPr>
            </a:pPr>
            <a:r>
              <a:t>Explain every choice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5129784"/>
            <a:ext cx="3209544" cy="402335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80938B"/>
                </a:solidFill>
                <a:latin typeface="Aptos"/>
              </a:defRPr>
            </a:pPr>
            <a:r>
              <a:t>Decision Passport and Digital Twin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75320" y="3867912"/>
            <a:ext cx="3575304" cy="1819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449056" y="4032504"/>
            <a:ext cx="429768" cy="429768"/>
          </a:xfrm>
          <a:prstGeom prst="roundRect">
            <a:avLst/>
          </a:prstGeom>
          <a:solidFill>
            <a:srgbClr val="E9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22208" y="4096512"/>
            <a:ext cx="365760" cy="27432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327B65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4636008"/>
            <a:ext cx="3209544" cy="384048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113438"/>
                </a:solidFill>
                <a:latin typeface="Aptos"/>
              </a:defRPr>
            </a:pPr>
            <a:r>
              <a:t>Approve the sandbox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5129784"/>
            <a:ext cx="3209544" cy="402335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80938B"/>
                </a:solidFill>
                <a:latin typeface="Aptos"/>
              </a:defRPr>
            </a:pPr>
            <a:r>
              <a:t>Simulated receipt and audit event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"/>
          </a:xfrm>
          <a:prstGeom prst="rect">
            <a:avLst/>
          </a:prstGeom>
          <a:solidFill>
            <a:srgbClr val="1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37744"/>
            <a:ext cx="5486400" cy="246888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327B65"/>
                </a:solidFill>
                <a:latin typeface="Aptos"/>
              </a:defRPr>
            </a:pPr>
            <a:r>
              <a:t>STUDENTBRIDGE AI  /  TOPIC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85800"/>
            <a:ext cx="10972800" cy="91440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3000" b="1">
                <a:solidFill>
                  <a:srgbClr val="113438"/>
                </a:solidFill>
                <a:latin typeface="Aptos"/>
              </a:defRPr>
            </a:pPr>
            <a:r>
              <a:t>Our innovation: Three connected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" y="1508760"/>
            <a:ext cx="10698480" cy="50292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80938B"/>
                </a:solidFill>
                <a:latin typeface="Aptos"/>
              </a:defRPr>
            </a:pPr>
            <a:r>
              <a:t>These features work together, not as three separate chatbot answers.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6565392"/>
            <a:ext cx="10945368" cy="13716"/>
          </a:xfrm>
          <a:prstGeom prst="rect">
            <a:avLst/>
          </a:prstGeom>
          <a:solidFill>
            <a:srgbClr val="DDE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83680"/>
            <a:ext cx="7315200" cy="173736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80938B"/>
                </a:solidFill>
                <a:latin typeface="Aptos"/>
              </a:defRPr>
            </a:pPr>
            <a:r>
              <a:t>2026 SHENZHEN INTERNATIONAL FINTECH COMPETITION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56248"/>
            <a:ext cx="457200" cy="18288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327B65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048256"/>
            <a:ext cx="3584448" cy="32552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9536" y="2212848"/>
            <a:ext cx="429768" cy="429768"/>
          </a:xfrm>
          <a:prstGeom prst="roundRect">
            <a:avLst/>
          </a:prstGeom>
          <a:solidFill>
            <a:srgbClr val="E9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276856"/>
            <a:ext cx="365760" cy="27432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327B65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3218688" cy="384048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113438"/>
                </a:solidFill>
                <a:latin typeface="Aptos"/>
              </a:defRPr>
            </a:pPr>
            <a:r>
              <a:t>EduRoute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310128"/>
            <a:ext cx="3218688" cy="1837943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80938B"/>
                </a:solidFill>
                <a:latin typeface="Aptos"/>
              </a:defRPr>
            </a:pPr>
            <a:r>
              <a:t>Eligibility, available funds, protected reserve and tuition deadline are hard constraints. Rank only eligible options.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2048256"/>
            <a:ext cx="3584448" cy="32552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54296" y="2212848"/>
            <a:ext cx="429768" cy="429768"/>
          </a:xfrm>
          <a:prstGeom prst="roundRect">
            <a:avLst/>
          </a:prstGeom>
          <a:solidFill>
            <a:srgbClr val="E9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27448" y="2276856"/>
            <a:ext cx="365760" cy="27432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327B6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816352"/>
            <a:ext cx="3218688" cy="384048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113438"/>
                </a:solidFill>
                <a:latin typeface="Aptos"/>
              </a:defRPr>
            </a:pPr>
            <a:r>
              <a:t>Financial Digital Twin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310128"/>
            <a:ext cx="3218688" cy="1837943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80938B"/>
                </a:solidFill>
                <a:latin typeface="Aptos"/>
              </a:defRPr>
            </a:pPr>
            <a:r>
              <a:t>Change FX, unexpected fees or living expenses. See the new budget and whether your reserve survives.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20" y="2048256"/>
            <a:ext cx="3584448" cy="32552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49056" y="2212848"/>
            <a:ext cx="429768" cy="429768"/>
          </a:xfrm>
          <a:prstGeom prst="roundRect">
            <a:avLst/>
          </a:prstGeom>
          <a:solidFill>
            <a:srgbClr val="E9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22208" y="2276856"/>
            <a:ext cx="365760" cy="27432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327B6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16352"/>
            <a:ext cx="3218688" cy="384048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113438"/>
                </a:solidFill>
                <a:latin typeface="Aptos"/>
              </a:defRPr>
            </a:pPr>
            <a:r>
              <a:t>Decision Passport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3310128"/>
            <a:ext cx="3218688" cy="1837943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80938B"/>
                </a:solidFill>
                <a:latin typeface="Aptos"/>
              </a:defRPr>
            </a:pPr>
            <a:r>
              <a:t>Show every calculation, source, rejected alternative, warning and a plan integrity digest.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623560"/>
            <a:ext cx="10881360" cy="539496"/>
          </a:xfrm>
          <a:prstGeom prst="roundRect">
            <a:avLst/>
          </a:prstGeom>
          <a:solidFill>
            <a:srgbClr val="1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742432"/>
            <a:ext cx="10332720" cy="27432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 algn="ctr">
              <a:spcAft>
                <a:spcPts val="300"/>
              </a:spcAft>
              <a:defRPr sz="1400" b="1">
                <a:solidFill>
                  <a:srgbClr val="DFFF9A"/>
                </a:solidFill>
                <a:latin typeface="Aptos"/>
              </a:defRPr>
            </a:pPr>
            <a:r>
              <a:t>Innovation = auditable financial decisions + explicit uncertainty, not unexplained AI output.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"/>
          </a:xfrm>
          <a:prstGeom prst="rect">
            <a:avLst/>
          </a:prstGeom>
          <a:solidFill>
            <a:srgbClr val="1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37744"/>
            <a:ext cx="5486400" cy="246888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327B65"/>
                </a:solidFill>
                <a:latin typeface="Aptos"/>
              </a:defRPr>
            </a:pPr>
            <a:r>
              <a:t>STUDENTBRIDGE AI  /  TOPIC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85800"/>
            <a:ext cx="10972800" cy="91440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3000" b="1">
                <a:solidFill>
                  <a:srgbClr val="113438"/>
                </a:solidFill>
                <a:latin typeface="Aptos"/>
              </a:defRPr>
            </a:pPr>
            <a:r>
              <a:t>Financial logic that can be tested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" y="1508760"/>
            <a:ext cx="10698480" cy="50292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80938B"/>
                </a:solidFill>
                <a:latin typeface="Aptos"/>
              </a:defRPr>
            </a:pPr>
            <a:r>
              <a:t>The AI does not invent a bank rate or change the decision engine arithmetic.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6565392"/>
            <a:ext cx="10945368" cy="13716"/>
          </a:xfrm>
          <a:prstGeom prst="rect">
            <a:avLst/>
          </a:prstGeom>
          <a:solidFill>
            <a:srgbClr val="DDE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83680"/>
            <a:ext cx="7315200" cy="173736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80938B"/>
                </a:solidFill>
                <a:latin typeface="Aptos"/>
              </a:defRPr>
            </a:pPr>
            <a:r>
              <a:t>2026 SHENZHEN INTERNATIONAL FINTECH COMPETITION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56248"/>
            <a:ext cx="457200" cy="18288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327B65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66751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2157984"/>
            <a:ext cx="6126480" cy="301752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327B65"/>
                </a:solidFill>
                <a:latin typeface="Aptos"/>
              </a:defRPr>
            </a:pPr>
            <a:r>
              <a:t>DETERMINISTIC COST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2724912"/>
            <a:ext cx="5943600" cy="68580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113438"/>
                </a:solidFill>
                <a:latin typeface="Aptos"/>
              </a:defRPr>
            </a:pPr>
            <a:r>
              <a:t>Required tuition = Invoice − confirmed scholarship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3529584"/>
            <a:ext cx="5943600" cy="68580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113438"/>
                </a:solidFill>
                <a:latin typeface="Aptos"/>
              </a:defRPr>
            </a:pPr>
            <a:r>
              <a:t>Total debit = Tuition × quoted rate + applicable fees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1" y="4416552"/>
            <a:ext cx="5943600" cy="73152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80938B"/>
                </a:solidFill>
                <a:latin typeface="Aptos"/>
              </a:defRPr>
            </a:pPr>
            <a:r>
              <a:t>Then check: eligibility, deadline, funds after reserve and quote expiry.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1920240"/>
            <a:ext cx="3785615" cy="3474720"/>
          </a:xfrm>
          <a:prstGeom prst="roundRect">
            <a:avLst/>
          </a:prstGeom>
          <a:solidFill>
            <a:srgbClr val="1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36992" y="2331720"/>
            <a:ext cx="3200400" cy="36576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DFFF9A"/>
                </a:solidFill>
                <a:latin typeface="Aptos"/>
              </a:defRPr>
            </a:pPr>
            <a:r>
              <a:t>CRITICAL REFUSAL CASE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36992" y="2990088"/>
            <a:ext cx="3182112" cy="109728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No verified or entered suitable route?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6992" y="4334256"/>
            <a:ext cx="3154680" cy="77724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DFFF9A"/>
                </a:solidFill>
                <a:latin typeface="Aptos"/>
              </a:defRPr>
            </a:pPr>
            <a:r>
              <a:t>The system explains the gap. It does not fabricate a recommendation.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"/>
          </a:xfrm>
          <a:prstGeom prst="rect">
            <a:avLst/>
          </a:prstGeom>
          <a:solidFill>
            <a:srgbClr val="1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37744"/>
            <a:ext cx="5486400" cy="246888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327B65"/>
                </a:solidFill>
                <a:latin typeface="Aptos"/>
              </a:defRPr>
            </a:pPr>
            <a:r>
              <a:t>STUDENTBRIDGE AI  /  TOPIC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85800"/>
            <a:ext cx="10972800" cy="91440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3000" b="1">
                <a:solidFill>
                  <a:srgbClr val="113438"/>
                </a:solidFill>
                <a:latin typeface="Aptos"/>
              </a:defRPr>
            </a:pPr>
            <a:r>
              <a:t>Real facts. Transparent gaps.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" y="1508760"/>
            <a:ext cx="10698480" cy="50292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80938B"/>
                </a:solidFill>
                <a:latin typeface="Aptos"/>
              </a:defRPr>
            </a:pPr>
            <a:r>
              <a:t>Source provenance is a product feature, not an afterthought.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6565392"/>
            <a:ext cx="10945368" cy="13716"/>
          </a:xfrm>
          <a:prstGeom prst="rect">
            <a:avLst/>
          </a:prstGeom>
          <a:solidFill>
            <a:srgbClr val="DDE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83680"/>
            <a:ext cx="7315200" cy="173736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80938B"/>
                </a:solidFill>
                <a:latin typeface="Aptos"/>
              </a:defRPr>
            </a:pPr>
            <a:r>
              <a:t>2026 SHENZHEN INTERNATIONAL FINTECH COMPETITION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56248"/>
            <a:ext cx="457200" cy="18288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327B65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" y="1874519"/>
            <a:ext cx="10771632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93391"/>
            <a:ext cx="3090672" cy="41148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327B65"/>
                </a:solidFill>
                <a:latin typeface="Aptos"/>
              </a:defRPr>
            </a:pPr>
            <a:r>
              <a:t>LIVE REFERENCE FX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33087" y="2011679"/>
            <a:ext cx="6949440" cy="41148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113438"/>
                </a:solidFill>
                <a:latin typeface="Aptos"/>
              </a:defRPr>
            </a:pPr>
            <a:r>
              <a:t>Frankfurter v2; dated, reference-only, not a transfer quote.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" y="2688336"/>
            <a:ext cx="10771632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807208"/>
            <a:ext cx="3090672" cy="41148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327B65"/>
                </a:solidFill>
                <a:latin typeface="Aptos"/>
              </a:defRPr>
            </a:pPr>
            <a:r>
              <a:t>PUBLISHED UNIVERSITY FEES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33087" y="2825496"/>
            <a:ext cx="6949440" cy="41148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113438"/>
                </a:solidFill>
                <a:latin typeface="Aptos"/>
              </a:defRPr>
            </a:pPr>
            <a:r>
              <a:t>Official 2026 programme schedules where amount is directly supported.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" y="3502152"/>
            <a:ext cx="10771632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621024"/>
            <a:ext cx="3090672" cy="41148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327B65"/>
                </a:solidFill>
                <a:latin typeface="Aptos"/>
              </a:defRPr>
            </a:pPr>
            <a:r>
              <a:t>STUDENT PERSONAL FINANCE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3087" y="3639312"/>
            <a:ext cx="6949440" cy="41148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113438"/>
                </a:solidFill>
                <a:latin typeface="Aptos"/>
              </a:defRPr>
            </a:pPr>
            <a:r>
              <a:t>User-entered, self-reported, not independently verified.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4315968"/>
            <a:ext cx="10771632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434840"/>
            <a:ext cx="3090672" cy="41148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327B65"/>
                </a:solidFill>
                <a:latin typeface="Aptos"/>
              </a:defRPr>
            </a:pPr>
            <a:r>
              <a:t>PROVIDER TRANSFER QUOTES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33087" y="4453128"/>
            <a:ext cx="6949440" cy="41148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113438"/>
                </a:solidFill>
                <a:latin typeface="Aptos"/>
              </a:defRPr>
            </a:pPr>
            <a:r>
              <a:t>User-entered and explicitly unverified without provider integration.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4944" y="5129783"/>
            <a:ext cx="10771632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5248655"/>
            <a:ext cx="3090672" cy="41148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327B65"/>
                </a:solidFill>
                <a:latin typeface="Aptos"/>
              </a:defRPr>
            </a:pPr>
            <a:r>
              <a:t>EXECUTION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33087" y="5266944"/>
            <a:ext cx="6949440" cy="41148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113438"/>
                </a:solidFill>
                <a:latin typeface="Aptos"/>
              </a:defRPr>
            </a:pPr>
            <a:r>
              <a:t>MySQL sandbox log and atomic audit chain; not bank settlement.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"/>
          </a:xfrm>
          <a:prstGeom prst="rect">
            <a:avLst/>
          </a:prstGeom>
          <a:solidFill>
            <a:srgbClr val="1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37744"/>
            <a:ext cx="5486400" cy="246888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327B65"/>
                </a:solidFill>
                <a:latin typeface="Aptos"/>
              </a:defRPr>
            </a:pPr>
            <a:r>
              <a:t>STUDENTBRIDGE AI  /  TOPIC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85800"/>
            <a:ext cx="10972800" cy="91440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3000" b="1">
                <a:solidFill>
                  <a:srgbClr val="113438"/>
                </a:solidFill>
                <a:latin typeface="Aptos"/>
              </a:defRPr>
            </a:pPr>
            <a:r>
              <a:t>Security is part of the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" y="1508760"/>
            <a:ext cx="10698480" cy="50292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80938B"/>
                </a:solidFill>
                <a:latin typeface="Aptos"/>
              </a:defRPr>
            </a:pPr>
            <a:r>
              <a:t>We prioritize constraints and limitations over unsupported compliance claims.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6565392"/>
            <a:ext cx="10945368" cy="13716"/>
          </a:xfrm>
          <a:prstGeom prst="rect">
            <a:avLst/>
          </a:prstGeom>
          <a:solidFill>
            <a:srgbClr val="DDE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83680"/>
            <a:ext cx="7315200" cy="173736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80938B"/>
                </a:solidFill>
                <a:latin typeface="Aptos"/>
              </a:defRPr>
            </a:pPr>
            <a:r>
              <a:t>2026 SHENZHEN INTERNATIONAL FINTECH COMPETITION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56248"/>
            <a:ext cx="457200" cy="18288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327B65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65376"/>
            <a:ext cx="5376672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167128"/>
            <a:ext cx="4928616" cy="301752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113438"/>
                </a:solidFill>
                <a:latin typeface="Aptos"/>
              </a:defRPr>
            </a:pPr>
            <a:r>
              <a:t>Permission tiers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651760"/>
            <a:ext cx="4928616" cy="621792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80938B"/>
                </a:solidFill>
                <a:latin typeface="Aptos"/>
              </a:defRPr>
            </a:pPr>
            <a:r>
              <a:t>Read data; plan; explicit sandbox approver; local operator.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82512" y="1865376"/>
            <a:ext cx="5376672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11112" y="2167128"/>
            <a:ext cx="4928616" cy="301752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113438"/>
                </a:solidFill>
                <a:latin typeface="Aptos"/>
              </a:defRPr>
            </a:pPr>
            <a:r>
              <a:t>Human approval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2651760"/>
            <a:ext cx="4928616" cy="621792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80938B"/>
                </a:solidFill>
                <a:latin typeface="Aptos"/>
              </a:defRPr>
            </a:pPr>
            <a:r>
              <a:t>Approval confirmation is required for every sandbox execution.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3785616"/>
            <a:ext cx="5376672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4087368"/>
            <a:ext cx="4928616" cy="301752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113438"/>
                </a:solidFill>
                <a:latin typeface="Aptos"/>
              </a:defRPr>
            </a:pPr>
            <a:r>
              <a:t>Safer inputs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4572000"/>
            <a:ext cx="4928616" cy="621792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80938B"/>
                </a:solidFill>
                <a:latin typeface="Aptos"/>
              </a:defRPr>
            </a:pPr>
            <a:r>
              <a:t>Pydantic validation; PDF size/type limits; user quote provenance.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2512" y="3785616"/>
            <a:ext cx="5376672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1112" y="4087368"/>
            <a:ext cx="4928616" cy="301752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113438"/>
                </a:solidFill>
                <a:latin typeface="Aptos"/>
              </a:defRPr>
            </a:pPr>
            <a:r>
              <a:t>Audit proof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1112" y="4572000"/>
            <a:ext cx="4928616" cy="621792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80938B"/>
                </a:solidFill>
                <a:latin typeface="Aptos"/>
              </a:defRPr>
            </a:pPr>
            <a:r>
              <a:t>HMAC-chained events, SHA-256 passports, idempotent test payments.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6062472"/>
            <a:ext cx="10607040" cy="265176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BD7949"/>
                </a:solidFill>
                <a:latin typeface="Aptos"/>
              </a:defRPr>
            </a:pPr>
            <a:r>
              <a:t>NOT production-ready: no KYC/AML certification, user authentication, or live bank transaction execution.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"/>
          </a:xfrm>
          <a:prstGeom prst="rect">
            <a:avLst/>
          </a:prstGeom>
          <a:solidFill>
            <a:srgbClr val="1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37744"/>
            <a:ext cx="5486400" cy="246888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327B65"/>
                </a:solidFill>
                <a:latin typeface="Aptos"/>
              </a:defRPr>
            </a:pPr>
            <a:r>
              <a:t>STUDENTBRIDGE AI  /  TOPIC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85800"/>
            <a:ext cx="10972800" cy="91440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3000" b="1">
                <a:solidFill>
                  <a:srgbClr val="113438"/>
                </a:solidFill>
                <a:latin typeface="Aptos"/>
              </a:defRPr>
            </a:pPr>
            <a:r>
              <a:t>MySQL-powered demonstration and test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" y="1508760"/>
            <a:ext cx="10698480" cy="50292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80938B"/>
                </a:solidFill>
                <a:latin typeface="Aptos"/>
              </a:defRPr>
            </a:pPr>
            <a:r>
              <a:t>Automated tests, two example corridors, and an auditable simulated execution.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6565392"/>
            <a:ext cx="10945368" cy="13716"/>
          </a:xfrm>
          <a:prstGeom prst="rect">
            <a:avLst/>
          </a:prstGeom>
          <a:solidFill>
            <a:srgbClr val="DDE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83680"/>
            <a:ext cx="7315200" cy="173736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80938B"/>
                </a:solidFill>
                <a:latin typeface="Aptos"/>
              </a:defRPr>
            </a:pPr>
            <a:r>
              <a:t>2026 SHENZHEN INTERNATIONAL FINTECH COMPETITION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56248"/>
            <a:ext cx="457200" cy="18288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327B65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" y="2002536"/>
            <a:ext cx="3547872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2304288"/>
            <a:ext cx="2971800" cy="64008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4200" b="1">
                <a:solidFill>
                  <a:srgbClr val="327B65"/>
                </a:solidFill>
                <a:latin typeface="Aptos"/>
              </a:defRPr>
            </a:pPr>
            <a:r>
              <a:t>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136392"/>
            <a:ext cx="3154680" cy="283464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13438"/>
                </a:solidFill>
                <a:latin typeface="Aptos"/>
              </a:defRPr>
            </a:pPr>
            <a:r>
              <a:t>TESTS PASSING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3511296"/>
            <a:ext cx="3063240" cy="475488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80938B"/>
                </a:solidFill>
                <a:latin typeface="Aptos"/>
              </a:defRPr>
            </a:pPr>
            <a:r>
              <a:t>Deadline, fee, eligibility, expiry, idempotency, API validation.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62272" y="2002536"/>
            <a:ext cx="3547872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0872" y="2304288"/>
            <a:ext cx="2971800" cy="64008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4200" b="1">
                <a:solidFill>
                  <a:srgbClr val="327B6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3136392"/>
            <a:ext cx="3154680" cy="283464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13438"/>
                </a:solidFill>
                <a:latin typeface="Aptos"/>
              </a:defRPr>
            </a:pPr>
            <a:r>
              <a:t>SANDBOX CASES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3511296"/>
            <a:ext cx="3063240" cy="475488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80938B"/>
                </a:solidFill>
                <a:latin typeface="Aptos"/>
              </a:defRPr>
            </a:pPr>
            <a:r>
              <a:t>China → Australia and Japan → United Kingdom.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002536"/>
            <a:ext cx="3547872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2304288"/>
            <a:ext cx="2971800" cy="64008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4200" b="1">
                <a:solidFill>
                  <a:srgbClr val="327B65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136392"/>
            <a:ext cx="3154680" cy="283464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113438"/>
                </a:solidFill>
                <a:latin typeface="Aptos"/>
              </a:defRPr>
            </a:pPr>
            <a:r>
              <a:t>REAL PAYMENTS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511296"/>
            <a:ext cx="3063240" cy="475488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80938B"/>
                </a:solidFill>
                <a:latin typeface="Aptos"/>
              </a:defRPr>
            </a:pPr>
            <a:r>
              <a:t>Only explicit, local, approved test ledger entries.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4944" y="4636008"/>
            <a:ext cx="10972800" cy="1042415"/>
          </a:xfrm>
          <a:prstGeom prst="roundRect">
            <a:avLst/>
          </a:prstGeom>
          <a:solidFill>
            <a:srgbClr val="1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901184"/>
            <a:ext cx="10241280" cy="530352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DFFF9A"/>
                </a:solidFill>
                <a:latin typeface="Aptos"/>
              </a:defRPr>
            </a:pPr>
            <a:r>
              <a:t>MySQL integration smoke test and real screen-recorded demonstration still required.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6868"/>
          </a:xfrm>
          <a:prstGeom prst="rect">
            <a:avLst/>
          </a:prstGeom>
          <a:solidFill>
            <a:srgbClr val="1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37744"/>
            <a:ext cx="5486400" cy="246888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327B65"/>
                </a:solidFill>
                <a:latin typeface="Aptos"/>
              </a:defRPr>
            </a:pPr>
            <a:r>
              <a:t>STUDENTBRIDGE AI  /  TOPIC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85800"/>
            <a:ext cx="10972800" cy="91440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3000" b="1">
                <a:solidFill>
                  <a:srgbClr val="113438"/>
                </a:solidFill>
                <a:latin typeface="Aptos"/>
              </a:defRPr>
            </a:pPr>
            <a:r>
              <a:t>A responsible foundation for a scalable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" y="1508760"/>
            <a:ext cx="10698480" cy="50292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80938B"/>
                </a:solidFill>
                <a:latin typeface="Aptos"/>
              </a:defRPr>
            </a:pPr>
            <a:r>
              <a:t>Next: authenticated bank quote APIs, verified corridor compliance, and secure user accounts.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6565392"/>
            <a:ext cx="10945368" cy="13716"/>
          </a:xfrm>
          <a:prstGeom prst="rect">
            <a:avLst/>
          </a:prstGeom>
          <a:solidFill>
            <a:srgbClr val="DDE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83680"/>
            <a:ext cx="7315200" cy="173736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800" b="1">
                <a:solidFill>
                  <a:srgbClr val="80938B"/>
                </a:solidFill>
                <a:latin typeface="Aptos"/>
              </a:defRPr>
            </a:pPr>
            <a:r>
              <a:t>2026 SHENZHEN INTERNATIONAL FINTECH COMPETITION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56248"/>
            <a:ext cx="457200" cy="18288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 algn="r">
              <a:spcAft>
                <a:spcPts val="300"/>
              </a:spcAft>
              <a:defRPr sz="900" b="1">
                <a:solidFill>
                  <a:srgbClr val="327B65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" y="1984248"/>
            <a:ext cx="9509760" cy="123444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3100" b="1">
                <a:solidFill>
                  <a:srgbClr val="113438"/>
                </a:solidFill>
                <a:latin typeface="Aptos"/>
              </a:defRPr>
            </a:pPr>
            <a:r>
              <a:t>Students deserve financial confidence,</a:t>
            </a:r>
          </a:p>
          <a:p>
            <a:pPr>
              <a:spcAft>
                <a:spcPts val="300"/>
              </a:spcAft>
              <a:defRPr sz="3100" b="1">
                <a:solidFill>
                  <a:srgbClr val="113438"/>
                </a:solidFill>
                <a:latin typeface="Aptos"/>
              </a:defRPr>
            </a:pPr>
            <a:r>
              <a:t>not another black-box recommendation.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4142232"/>
            <a:ext cx="10113264" cy="1170432"/>
          </a:xfrm>
          <a:prstGeom prst="roundRect">
            <a:avLst/>
          </a:prstGeom>
          <a:solidFill>
            <a:srgbClr val="1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8176" y="4379976"/>
            <a:ext cx="9326880" cy="50292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 algn="ctr">
              <a:spcAft>
                <a:spcPts val="300"/>
              </a:spcAft>
              <a:defRPr sz="1600" b="1">
                <a:solidFill>
                  <a:srgbClr val="DFFF9A"/>
                </a:solidFill>
                <a:latin typeface="Aptos"/>
              </a:defRPr>
            </a:pPr>
            <a:r>
              <a:t>STUDENTBRIDGE AI   /   EXPLAIN THE COST. PROTECT THE STUDENT. SHOW THE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833872"/>
            <a:ext cx="10149840" cy="274320"/>
          </a:xfrm>
          <a:prstGeom prst="rect">
            <a:avLst/>
          </a:prstGeom>
          <a:noFill/>
        </p:spPr>
        <p:txBody>
          <a:bodyPr wrap="square" lIns="27432" tIns="18288" rIns="27432" bIns="9144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327B65"/>
                </a:solidFill>
                <a:latin typeface="Aptos"/>
              </a:defRPr>
            </a:pPr>
            <a:r>
              <a:t>SOURCE CODE  •  TECHNICAL REPORT  •  SECURITY SELF-ASSESSMENT  •  SANDBOX LOGS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